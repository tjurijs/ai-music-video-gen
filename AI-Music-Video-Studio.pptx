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6E56E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3840480"/>
            <a:ext cx="3657600" cy="3657600"/>
          </a:xfrm>
          <a:prstGeom prst="ellipse">
            <a:avLst/>
          </a:prstGeom>
          <a:solidFill>
            <a:srgbClr val="22D3E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Inter"/>
              </a:rPr>
              <a:t>TECHNICAL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5400" b="1">
                <a:solidFill>
                  <a:srgbClr val="E6E9F0"/>
                </a:solidFill>
                <a:latin typeface="Inter"/>
              </a:rPr>
              <a:t>AI Music Video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>
                <a:solidFill>
                  <a:srgbClr val="9CA3AF"/>
                </a:solidFill>
                <a:latin typeface="Inter"/>
              </a:rPr>
              <a:t>Song → beats &amp; lyrics → scene plan → characters → per-scene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>
                <a:solidFill>
                  <a:srgbClr val="9CA3AF"/>
                </a:solidFill>
                <a:latin typeface="Inter"/>
              </a:rPr>
              <a:t>image &amp; video → ffmpeg assembly — fully automated.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607040" cy="118872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E6E9F0"/>
                </a:solidFill>
                <a:latin typeface="Inter"/>
              </a:rPr>
              <a:t>FastAPI · SQLModel · SQLite   |   Next.js 14 · React Query · TypeScript · Tailwind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9CA3AF"/>
                </a:solidFill>
                <a:latin typeface="Inter"/>
              </a:rPr>
              <a:t>All video / image / LLM via OpenRouter · fal.ai (optional) for word-level lyric timestamps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Inter"/>
              </a:rPr>
              <a:t>AI Music Video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6E5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6E56E8"/>
                </a:solidFill>
                <a:latin typeface="Inter"/>
              </a:rPr>
              <a:t>WHY THIS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E6E9F0"/>
                </a:solidFill>
                <a:latin typeface="Inter"/>
              </a:rPr>
              <a:t>From a single song to a finished music video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486400" cy="475488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47BB2"/>
                </a:solidFill>
                <a:latin typeface="Inter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2D3EE"/>
                </a:solidFill>
                <a:latin typeface="Inter"/>
              </a:rPr>
              <a:t>▸  </a:t>
            </a:r>
            <a:r>
              <a:rPr sz="1500" b="1">
                <a:solidFill>
                  <a:srgbClr val="E6E9F0"/>
                </a:solidFill>
                <a:latin typeface="Inter"/>
              </a:rPr>
              <a:t>Manual music-video production is slow and expensive.  </a:t>
            </a:r>
            <a:r>
              <a:rPr sz="1500" b="0">
                <a:solidFill>
                  <a:srgbClr val="9CA3AF"/>
                </a:solidFill>
                <a:latin typeface="Inter"/>
              </a:rPr>
              <a:t/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2D3EE"/>
                </a:solidFill>
                <a:latin typeface="Inter"/>
              </a:rPr>
              <a:t>▸  </a:t>
            </a:r>
            <a:r>
              <a:rPr sz="1500">
                <a:solidFill>
                  <a:srgbClr val="E6E9F0"/>
                </a:solidFill>
                <a:latin typeface="Inter"/>
              </a:rPr>
              <a:t>Each shot needs composition, characters, motion, and a cut to the beat.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2D3EE"/>
                </a:solidFill>
                <a:latin typeface="Inter"/>
              </a:rPr>
              <a:t>▸  </a:t>
            </a:r>
            <a:r>
              <a:rPr sz="1500">
                <a:solidFill>
                  <a:srgbClr val="E6E9F0"/>
                </a:solidFill>
                <a:latin typeface="Inter"/>
              </a:rPr>
              <a:t>Existing AI tools give you clips, not a coherent song-length film.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2D3EE"/>
                </a:solidFill>
                <a:latin typeface="Inter"/>
              </a:rPr>
              <a:t>▸  </a:t>
            </a:r>
            <a:r>
              <a:rPr sz="1500">
                <a:solidFill>
                  <a:srgbClr val="E6E9F0"/>
                </a:solidFill>
                <a:latin typeface="Inter"/>
              </a:rPr>
              <a:t>Continuity between shots is hard — models drift between generations.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486400" cy="475488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4D399"/>
                </a:solidFill>
                <a:latin typeface="Inter"/>
              </a:rPr>
              <a:t>THE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5740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4D399"/>
                </a:solidFill>
                <a:latin typeface="Inter"/>
              </a:rPr>
              <a:t>▸  </a:t>
            </a:r>
            <a:r>
              <a:rPr sz="1400" b="1">
                <a:solidFill>
                  <a:srgbClr val="E6E9F0"/>
                </a:solidFill>
                <a:latin typeface="Inter"/>
              </a:rPr>
              <a:t>Upload a song → automatic audio analysis.  </a:t>
            </a:r>
            <a:r>
              <a:rPr sz="1400" b="0">
                <a:solidFill>
                  <a:srgbClr val="9CA3AF"/>
                </a:solidFill>
                <a:latin typeface="Inter"/>
              </a:rPr>
              <a:t>BPM, key, beats, sections, lyrics.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4D399"/>
                </a:solidFill>
                <a:latin typeface="Inter"/>
              </a:rPr>
              <a:t>▸  </a:t>
            </a:r>
            <a:r>
              <a:rPr sz="1400" b="1">
                <a:solidFill>
                  <a:srgbClr val="E6E9F0"/>
                </a:solidFill>
                <a:latin typeface="Inter"/>
              </a:rPr>
              <a:t>LLM plans scenes  </a:t>
            </a:r>
            <a:r>
              <a:rPr sz="1400" b="0">
                <a:solidFill>
                  <a:srgbClr val="9CA3AF"/>
                </a:solidFill>
                <a:latin typeface="Inter"/>
              </a:rPr>
              <a:t>aligned to beat &amp; section windows, with prompts per scene.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4D399"/>
                </a:solidFill>
                <a:latin typeface="Inter"/>
              </a:rPr>
              <a:t>▸  </a:t>
            </a:r>
            <a:r>
              <a:rPr sz="1400" b="1">
                <a:solidFill>
                  <a:srgbClr val="E6E9F0"/>
                </a:solidFill>
                <a:latin typeface="Inter"/>
              </a:rPr>
              <a:t>Character cast  </a:t>
            </a:r>
            <a:r>
              <a:rPr sz="1400" b="0">
                <a:solidFill>
                  <a:srgbClr val="9CA3AF"/>
                </a:solidFill>
                <a:latin typeface="Inter"/>
              </a:rPr>
              <a:t>with portrait refs reused at gen time.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4D399"/>
                </a:solidFill>
                <a:latin typeface="Inter"/>
              </a:rPr>
              <a:t>▸  </a:t>
            </a:r>
            <a:r>
              <a:rPr sz="1400" b="1">
                <a:solidFill>
                  <a:srgbClr val="E6E9F0"/>
                </a:solidFill>
                <a:latin typeface="Inter"/>
              </a:rPr>
              <a:t>Per-scene image + video  </a:t>
            </a:r>
            <a:r>
              <a:rPr sz="1400" b="0">
                <a:solidFill>
                  <a:srgbClr val="9CA3AF"/>
                </a:solidFill>
                <a:latin typeface="Inter"/>
              </a:rPr>
              <a:t>two routes: OpenRouter I2V (default) / Seedance R2V audio-sync.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4D399"/>
                </a:solidFill>
                <a:latin typeface="Inter"/>
              </a:rPr>
              <a:t>▸  </a:t>
            </a:r>
            <a:r>
              <a:rPr sz="1400" b="1">
                <a:solidFill>
                  <a:srgbClr val="E6E9F0"/>
                </a:solidFill>
                <a:latin typeface="Inter"/>
              </a:rPr>
              <a:t>Frame-accurate chaining  </a:t>
            </a:r>
            <a:r>
              <a:rPr sz="1400" b="0">
                <a:solidFill>
                  <a:srgbClr val="9CA3AF"/>
                </a:solidFill>
                <a:latin typeface="Inter"/>
              </a:rPr>
              <a:t>scene N+1 starts on scene N's real last frame.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34D399"/>
                </a:solidFill>
                <a:latin typeface="Inter"/>
              </a:rPr>
              <a:t>▸  </a:t>
            </a:r>
            <a:r>
              <a:rPr sz="1400" b="1">
                <a:solidFill>
                  <a:srgbClr val="E6E9F0"/>
                </a:solidFill>
                <a:latin typeface="Inter"/>
              </a:rPr>
              <a:t>ffmpeg assembly  </a:t>
            </a:r>
            <a:r>
              <a:rPr sz="1400" b="0">
                <a:solidFill>
                  <a:srgbClr val="9CA3AF"/>
                </a:solidFill>
                <a:latin typeface="Inter"/>
              </a:rPr>
              <a:t>concat + song mux → streaming-ready MP4.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Inter"/>
              </a:rPr>
              <a:t>AI Music Video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6E5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6E56E8"/>
                </a:solidFill>
                <a:latin typeface="Inter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E6E9F0"/>
                </a:solidFill>
                <a:latin typeface="Inter"/>
              </a:rPr>
              <a:t>Two-service stack, one SQLite 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86400" cy="466344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BACKEND  ·  FastAPI + SQLModel + SQLite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▸  </a:t>
            </a:r>
            <a:r>
              <a:rPr sz="1300" b="1">
                <a:solidFill>
                  <a:srgbClr val="E6E9F0"/>
                </a:solidFill>
                <a:latin typeface="Inter"/>
              </a:rPr>
              <a:t>routers/  </a:t>
            </a:r>
            <a:r>
              <a:rPr sz="1300" b="0">
                <a:solidFill>
                  <a:srgbClr val="9CA3AF"/>
                </a:solidFill>
                <a:latin typeface="Inter"/>
              </a:rPr>
              <a:t>projects · songs · scenes · generation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▸  </a:t>
            </a:r>
            <a:r>
              <a:rPr sz="1300" b="1">
                <a:solidFill>
                  <a:srgbClr val="E6E9F0"/>
                </a:solidFill>
                <a:latin typeface="Inter"/>
              </a:rPr>
              <a:t>services/openrouter.py  </a:t>
            </a:r>
            <a:r>
              <a:rPr sz="1300" b="0">
                <a:solidFill>
                  <a:srgbClr val="9CA3AF"/>
                </a:solidFill>
                <a:latin typeface="Inter"/>
              </a:rPr>
              <a:t>video, image, LLM, transcription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▸  </a:t>
            </a:r>
            <a:r>
              <a:rPr sz="1300" b="1">
                <a:solidFill>
                  <a:srgbClr val="E6E9F0"/>
                </a:solidFill>
                <a:latin typeface="Inter"/>
              </a:rPr>
              <a:t>scene_planner.py  </a:t>
            </a:r>
            <a:r>
              <a:rPr sz="1300" b="0">
                <a:solidFill>
                  <a:srgbClr val="9CA3AF"/>
                </a:solidFill>
                <a:latin typeface="Inter"/>
              </a:rPr>
              <a:t>batch plan · expand · continuation · characters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▸  </a:t>
            </a:r>
            <a:r>
              <a:rPr sz="1300" b="1">
                <a:solidFill>
                  <a:srgbClr val="E6E9F0"/>
                </a:solidFill>
                <a:latin typeface="Inter"/>
              </a:rPr>
              <a:t>generation_service.py  </a:t>
            </a:r>
            <a:r>
              <a:rPr sz="1300" b="0">
                <a:solidFill>
                  <a:srgbClr val="9CA3AF"/>
                </a:solidFill>
                <a:latin typeface="Inter"/>
              </a:rPr>
              <a:t>per-scene image→video pipeline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▸  </a:t>
            </a:r>
            <a:r>
              <a:rPr sz="1300" b="1">
                <a:solidFill>
                  <a:srgbClr val="E6E9F0"/>
                </a:solidFill>
                <a:latin typeface="Inter"/>
              </a:rPr>
              <a:t>assembly.py  </a:t>
            </a:r>
            <a:r>
              <a:rPr sz="1300" b="0">
                <a:solidFill>
                  <a:srgbClr val="9CA3AF"/>
                </a:solidFill>
                <a:latin typeface="Inter"/>
              </a:rPr>
              <a:t>ffmpeg concat + audio mux + faststart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▸  </a:t>
            </a:r>
            <a:r>
              <a:rPr sz="1300" b="1">
                <a:solidFill>
                  <a:srgbClr val="E6E9F0"/>
                </a:solidFill>
                <a:latin typeface="Inter"/>
              </a:rPr>
              <a:t>versioning.py / urls.py / llm_json.py  </a:t>
            </a:r>
            <a:r>
              <a:rPr sz="1300" b="0">
                <a:solidFill>
                  <a:srgbClr val="9CA3AF"/>
                </a:solidFill>
                <a:latin typeface="Inter"/>
              </a:rPr>
              <a:t>shared invariants + helpers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486400" cy="466344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47BB2"/>
                </a:solidFill>
                <a:latin typeface="Inter"/>
              </a:rPr>
              <a:t>FRONTEND  ·  Next.js 14 + React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F47BB2"/>
                </a:solidFill>
                <a:latin typeface="Inter"/>
              </a:rPr>
              <a:t>▸  </a:t>
            </a:r>
            <a:r>
              <a:rPr sz="1300" b="1">
                <a:solidFill>
                  <a:srgbClr val="E6E9F0"/>
                </a:solidFill>
                <a:latin typeface="Inter"/>
              </a:rPr>
              <a:t>FlowStudio  </a:t>
            </a:r>
            <a:r>
              <a:rPr sz="1300" b="0">
                <a:solidFill>
                  <a:srgbClr val="9CA3AF"/>
                </a:solidFill>
                <a:latin typeface="Inter"/>
              </a:rPr>
              <a:t>per-project workspace orchestrating cells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F47BB2"/>
                </a:solidFill>
                <a:latin typeface="Inter"/>
              </a:rPr>
              <a:t>▸  </a:t>
            </a:r>
            <a:r>
              <a:rPr sz="1300" b="1">
                <a:solidFill>
                  <a:srgbClr val="E6E9F0"/>
                </a:solidFill>
                <a:latin typeface="Inter"/>
              </a:rPr>
              <a:t>cells/  </a:t>
            </a:r>
            <a:r>
              <a:rPr sz="1300" b="0">
                <a:solidFill>
                  <a:srgbClr val="9CA3AF"/>
                </a:solidFill>
                <a:latin typeface="Inter"/>
              </a:rPr>
              <a:t>Song · Characters · Plan · Generate · Assemble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F47BB2"/>
                </a:solidFill>
                <a:latin typeface="Inter"/>
              </a:rPr>
              <a:t>▸  </a:t>
            </a:r>
            <a:r>
              <a:rPr sz="1300" b="1">
                <a:solidFill>
                  <a:srgbClr val="E6E9F0"/>
                </a:solidFill>
                <a:latin typeface="Inter"/>
              </a:rPr>
              <a:t>SceneGenRow  </a:t>
            </a:r>
            <a:r>
              <a:rPr sz="1300" b="0">
                <a:solidFill>
                  <a:srgbClr val="9CA3AF"/>
                </a:solidFill>
                <a:latin typeface="Inter"/>
              </a:rPr>
              <a:t>per-scene row: chain 🔗, wand ✨, mic toggle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F47BB2"/>
                </a:solidFill>
                <a:latin typeface="Inter"/>
              </a:rPr>
              <a:t>▸  </a:t>
            </a:r>
            <a:r>
              <a:rPr sz="1300" b="1">
                <a:solidFill>
                  <a:srgbClr val="E6E9F0"/>
                </a:solidFill>
                <a:latin typeface="Inter"/>
              </a:rPr>
              <a:t>lib/api.ts  </a:t>
            </a:r>
            <a:r>
              <a:rPr sz="1300" b="0">
                <a:solidFill>
                  <a:srgbClr val="9CA3AF"/>
                </a:solidFill>
                <a:latin typeface="Inter"/>
              </a:rPr>
              <a:t>typed fetch wrapper, extracts FastAPI detail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F47BB2"/>
                </a:solidFill>
                <a:latin typeface="Inter"/>
              </a:rPr>
              <a:t>▸  </a:t>
            </a:r>
            <a:r>
              <a:rPr sz="1300" b="1">
                <a:solidFill>
                  <a:srgbClr val="E6E9F0"/>
                </a:solidFill>
                <a:latin typeface="Inter"/>
              </a:rPr>
              <a:t>useConfirm()  </a:t>
            </a:r>
            <a:r>
              <a:rPr sz="1300" b="0">
                <a:solidFill>
                  <a:srgbClr val="9CA3AF"/>
                </a:solidFill>
                <a:latin typeface="Inter"/>
              </a:rPr>
              <a:t>in-app overlay replaces window.confirm()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F47BB2"/>
                </a:solidFill>
                <a:latin typeface="Inter"/>
              </a:rPr>
              <a:t>▸  </a:t>
            </a:r>
            <a:r>
              <a:rPr sz="1300" b="1">
                <a:solidFill>
                  <a:srgbClr val="E6E9F0"/>
                </a:solidFill>
                <a:latin typeface="Inter"/>
              </a:rPr>
              <a:t>Auto-polling  </a:t>
            </a:r>
            <a:r>
              <a:rPr sz="1300" b="0">
                <a:solidFill>
                  <a:srgbClr val="9CA3AF"/>
                </a:solidFill>
                <a:latin typeface="Inter"/>
              </a:rPr>
              <a:t>plan 2s · assemble 3s · portrait 2.5s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Inter"/>
              </a:rPr>
              <a:t>AI Music Video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6E5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6E56E8"/>
                </a:solidFill>
                <a:latin typeface="Inter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E6E9F0"/>
                </a:solidFill>
                <a:latin typeface="Inter"/>
              </a:rPr>
              <a:t>End-to-end flow, v1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1064240" cy="713232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1563624"/>
            <a:ext cx="420624" cy="42062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0F121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527048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E6E9F0"/>
                </a:solidFill>
                <a:latin typeface="Inter"/>
              </a:rPr>
              <a:t>Upload song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527048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9CA3AF"/>
                </a:solidFill>
                <a:latin typeface="Inter"/>
              </a:rPr>
              <a:t>librosa → BPM, beats, sections · whisper → lyrics · LLM → theme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40280"/>
            <a:ext cx="11064240" cy="713232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3232" y="2386584"/>
            <a:ext cx="420624" cy="42062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0F121A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350008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E6E9F0"/>
                </a:solidFill>
                <a:latin typeface="Inter"/>
              </a:rPr>
              <a:t>Suggest characters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350008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9CA3AF"/>
                </a:solidFill>
                <a:latin typeface="Inter"/>
              </a:rPr>
              <a:t>scene_planner proposes a cast from the song's theme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63240"/>
            <a:ext cx="11064240" cy="713232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3209544"/>
            <a:ext cx="420624" cy="420624"/>
          </a:xfrm>
          <a:prstGeom prst="ellipse">
            <a:avLst/>
          </a:prstGeom>
          <a:solidFill>
            <a:srgbClr val="6E5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0F121A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172968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E6E9F0"/>
                </a:solidFill>
                <a:latin typeface="Inter"/>
              </a:rPr>
              <a:t>Plan scenes (batch)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172968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9CA3AF"/>
                </a:solidFill>
                <a:latin typeface="Inter"/>
              </a:rPr>
              <a:t>LLM divides song into shots aligned to beat windows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86200"/>
            <a:ext cx="11064240" cy="713232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4032504"/>
            <a:ext cx="420624" cy="420624"/>
          </a:xfrm>
          <a:prstGeom prst="ellipse">
            <a:avLst/>
          </a:prstGeom>
          <a:solidFill>
            <a:srgbClr val="F47B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0F121A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995928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E6E9F0"/>
                </a:solidFill>
                <a:latin typeface="Inter"/>
              </a:rPr>
              <a:t>Render image per scene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995928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9CA3AF"/>
                </a:solidFill>
                <a:latin typeface="Inter"/>
              </a:rPr>
              <a:t>OpenRouter image gen + character refs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09160"/>
            <a:ext cx="11064240" cy="713232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3232" y="4855464"/>
            <a:ext cx="420624" cy="42062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0F121A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818888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E6E9F0"/>
                </a:solidFill>
                <a:latin typeface="Inter"/>
              </a:rPr>
              <a:t>Render video per scene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4818888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9CA3AF"/>
                </a:solidFill>
                <a:latin typeface="Inter"/>
              </a:rPr>
              <a:t>I2V default  /  Seedance R2V audio-sync (opt-in)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32120"/>
            <a:ext cx="11064240" cy="713232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13232" y="5678424"/>
            <a:ext cx="420624" cy="42062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0F121A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641848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E6E9F0"/>
                </a:solidFill>
                <a:latin typeface="Inter"/>
              </a:rPr>
              <a:t>Chain + wand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5641848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9CA3AF"/>
                </a:solidFill>
                <a:latin typeface="Inter"/>
              </a:rPr>
              <a:t>vision-LLM writes next prompt from real last frame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6355080"/>
            <a:ext cx="11064240" cy="713232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3232" y="6501384"/>
            <a:ext cx="420624" cy="420624"/>
          </a:xfrm>
          <a:prstGeom prst="ellipse">
            <a:avLst/>
          </a:prstGeom>
          <a:solidFill>
            <a:srgbClr val="F47B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0F121A"/>
                </a:solidFill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6464808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E6E9F0"/>
                </a:solidFill>
                <a:latin typeface="Inter"/>
              </a:rPr>
              <a:t>Assemble final MP4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6464808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9CA3AF"/>
                </a:solidFill>
                <a:latin typeface="Inter"/>
              </a:rPr>
              <a:t>ffmpeg concat + song mux + -movflags +faststart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Inter"/>
              </a:rPr>
              <a:t>AI Music Video Studio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6E5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6E56E8"/>
                </a:solidFill>
                <a:latin typeface="Inter"/>
              </a:rPr>
              <a:t>TWO VIDEO ROUTES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E6E9F0"/>
                </a:solidFill>
                <a:latin typeface="Inter"/>
              </a:rPr>
              <a:t>Picked per scene, by model + mic toggle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86400" cy="466344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ROUTE A — OpenRouter Image-to-Video  (default)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9CA3AF"/>
                </a:solidFill>
                <a:latin typeface="Inter"/>
              </a:rPr>
              <a:t>Cheap · no audio · ships first_frame + optional refs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▸  </a:t>
            </a:r>
            <a:r>
              <a:rPr sz="1300" b="1">
                <a:solidFill>
                  <a:srgbClr val="E6E9F0"/>
                </a:solidFill>
                <a:latin typeface="Inter"/>
              </a:rPr>
              <a:t>first_frame =  </a:t>
            </a:r>
            <a:r>
              <a:rPr sz="1300" b="0">
                <a:solidFill>
                  <a:srgbClr val="9CA3AF"/>
                </a:solidFill>
                <a:latin typeface="Inter"/>
              </a:rPr>
              <a:t>chained prev's last frame, else scene's still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▸  </a:t>
            </a:r>
            <a:r>
              <a:rPr sz="1300" b="1">
                <a:solidFill>
                  <a:srgbClr val="E6E9F0"/>
                </a:solidFill>
                <a:latin typeface="Inter"/>
              </a:rPr>
              <a:t>input_references =  </a:t>
            </a:r>
            <a:r>
              <a:rPr sz="1300" b="0">
                <a:solidFill>
                  <a:srgbClr val="9CA3AF"/>
                </a:solidFill>
                <a:latin typeface="Inter"/>
              </a:rPr>
              <a:t>character portraits (Seedance only; Kling/Veo drop)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▸  </a:t>
            </a:r>
            <a:r>
              <a:rPr sz="1300" b="1">
                <a:solidFill>
                  <a:srgbClr val="E6E9F0"/>
                </a:solidFill>
                <a:latin typeface="Inter"/>
              </a:rPr>
              <a:t>Supported models:  </a:t>
            </a:r>
            <a:r>
              <a:rPr sz="1300" b="0">
                <a:solidFill>
                  <a:srgbClr val="9CA3AF"/>
                </a:solidFill>
                <a:latin typeface="Inter"/>
              </a:rPr>
              <a:t>Seedance, Kling, Veo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▸  </a:t>
            </a:r>
            <a:r>
              <a:rPr sz="1300" b="1">
                <a:solidFill>
                  <a:srgbClr val="E6E9F0"/>
                </a:solidFill>
                <a:latin typeface="Inter"/>
              </a:rPr>
              <a:t>Tradeoff:  </a:t>
            </a:r>
            <a:r>
              <a:rPr sz="1300" b="0">
                <a:solidFill>
                  <a:srgbClr val="9CA3AF"/>
                </a:solidFill>
                <a:latin typeface="Inter"/>
              </a:rPr>
              <a:t>lowest cost; no character lip-sync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63040"/>
            <a:ext cx="5486400" cy="466344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4D399"/>
                </a:solidFill>
                <a:latin typeface="Inter"/>
              </a:rPr>
              <a:t>ROUTE B — fal Seedance Reference-to-Video  (opt-in)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9CA3AF"/>
                </a:solidFill>
                <a:latin typeface="Inter"/>
              </a:rPr>
              <a:t>~6× cost · audio in · character “performs” with lipsync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603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34D399"/>
                </a:solidFill>
                <a:latin typeface="Inter"/>
              </a:rPr>
              <a:t>▸  </a:t>
            </a:r>
            <a:r>
              <a:rPr sz="1300" b="1">
                <a:solidFill>
                  <a:srgbClr val="E6E9F0"/>
                </a:solidFill>
                <a:latin typeface="Inter"/>
              </a:rPr>
              <a:t>image_urls =  </a:t>
            </a:r>
            <a:r>
              <a:rPr sz="1300" b="0">
                <a:solidFill>
                  <a:srgbClr val="9CA3AF"/>
                </a:solidFill>
                <a:latin typeface="Inter"/>
              </a:rPr>
              <a:t>first-frame source + up to 9 char refs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34D399"/>
                </a:solidFill>
                <a:latin typeface="Inter"/>
              </a:rPr>
              <a:t>▸  </a:t>
            </a:r>
            <a:r>
              <a:rPr sz="1300" b="1">
                <a:solidFill>
                  <a:srgbClr val="E6E9F0"/>
                </a:solidFill>
                <a:latin typeface="Inter"/>
              </a:rPr>
              <a:t>No first_frame concept  </a:t>
            </a:r>
            <a:r>
              <a:rPr sz="1300" b="0">
                <a:solidFill>
                  <a:srgbClr val="9CA3AF"/>
                </a:solidFill>
                <a:latin typeface="Inter"/>
              </a:rPr>
              <a:t>every image is a reference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34D399"/>
                </a:solidFill>
                <a:latin typeface="Inter"/>
              </a:rPr>
              <a:t>▸  </a:t>
            </a:r>
            <a:r>
              <a:rPr sz="1300" b="1">
                <a:solidFill>
                  <a:srgbClr val="E6E9F0"/>
                </a:solidFill>
                <a:latin typeface="Inter"/>
              </a:rPr>
              <a:t>audio_sync_enabled +  </a:t>
            </a:r>
            <a:r>
              <a:rPr sz="1300" b="0">
                <a:solidFill>
                  <a:srgbClr val="9CA3AF"/>
                </a:solidFill>
                <a:latin typeface="Inter"/>
              </a:rPr>
              <a:t>model.supports_audio_input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34D399"/>
                </a:solidFill>
                <a:latin typeface="Inter"/>
              </a:rPr>
              <a:t>▸  </a:t>
            </a:r>
            <a:r>
              <a:rPr sz="1300" b="1">
                <a:solidFill>
                  <a:srgbClr val="E6E9F0"/>
                </a:solidFill>
                <a:latin typeface="Inter"/>
              </a:rPr>
              <a:t>_extract_audio_segment  </a:t>
            </a:r>
            <a:r>
              <a:rPr sz="1300" b="0">
                <a:solidFill>
                  <a:srgbClr val="9CA3AF"/>
                </a:solidFill>
                <a:latin typeface="Inter"/>
              </a:rPr>
              <a:t>slices song[start..end] as synthesis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Inter"/>
              </a:rPr>
              <a:t>AI Music Video Studio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6E5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6E56E8"/>
                </a:solidFill>
                <a:latin typeface="Inter"/>
              </a:rPr>
              <a:t>CONTINUITY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E6E9F0"/>
                </a:solidFill>
                <a:latin typeface="Inter"/>
              </a:rPr>
              <a:t>Frame-accurate chaining between scenes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86400" cy="214884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 w="9525">
            <a:solidFill>
              <a:srgbClr val="F47B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47BB2"/>
                </a:solidFill>
                <a:latin typeface="Inter"/>
              </a:rPr>
              <a:t>OLD — removed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F47BB2"/>
                </a:solidFill>
                <a:latin typeface="Inter"/>
              </a:rPr>
              <a:t>▸  </a:t>
            </a:r>
            <a:r>
              <a:rPr sz="1300">
                <a:solidFill>
                  <a:srgbClr val="E6E9F0"/>
                </a:solidFill>
                <a:latin typeface="Inter"/>
              </a:rPr>
              <a:t>Passed scene N+1's planned still as a soft target.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F47BB2"/>
                </a:solidFill>
                <a:latin typeface="Inter"/>
              </a:rPr>
              <a:t>▸  </a:t>
            </a:r>
            <a:r>
              <a:rPr sz="1300">
                <a:solidFill>
                  <a:srgbClr val="E6E9F0"/>
                </a:solidFill>
                <a:latin typeface="Inter"/>
              </a:rPr>
              <a:t>Model rarely landed on it → visible seam.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486400" cy="214884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4D399"/>
                </a:solidFill>
                <a:latin typeface="Inter"/>
              </a:rPr>
              <a:t>NEW — current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34D399"/>
                </a:solidFill>
                <a:latin typeface="Inter"/>
              </a:rPr>
              <a:t>▸  </a:t>
            </a:r>
            <a:r>
              <a:rPr sz="1300">
                <a:solidFill>
                  <a:srgbClr val="E6E9F0"/>
                </a:solidFill>
                <a:latin typeface="Inter"/>
              </a:rPr>
              <a:t>chain_from_prev=true → scene N+1 first_frame = N's extracted last frame.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34D399"/>
                </a:solidFill>
                <a:latin typeface="Inter"/>
              </a:rPr>
              <a:t>▸  </a:t>
            </a:r>
            <a:r>
              <a:rPr sz="1300">
                <a:solidFill>
                  <a:srgbClr val="E6E9F0"/>
                </a:solidFill>
                <a:latin typeface="Inter"/>
              </a:rPr>
              <a:t>Real rendered pixels → pixel-accurate handoff at the seam.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228600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977639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ITERATIVE BUILD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348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▸  </a:t>
            </a:r>
            <a:r>
              <a:rPr sz="1300" b="1">
                <a:solidFill>
                  <a:srgbClr val="E6E9F0"/>
                </a:solidFill>
                <a:latin typeface="Inter"/>
              </a:rPr>
              <a:t>Plan  </a:t>
            </a:r>
            <a:r>
              <a:rPr sz="1300" b="0">
                <a:solidFill>
                  <a:srgbClr val="9CA3AF"/>
                </a:solidFill>
                <a:latin typeface="Inter"/>
              </a:rPr>
              <a:t>“Just scene 1” → one scene from the seed.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▸  </a:t>
            </a:r>
            <a:r>
              <a:rPr sz="1300" b="1">
                <a:solidFill>
                  <a:srgbClr val="E6E9F0"/>
                </a:solidFill>
                <a:latin typeface="Inter"/>
              </a:rPr>
              <a:t>Render  </a:t>
            </a:r>
            <a:r>
              <a:rPr sz="1300" b="0">
                <a:solidFill>
                  <a:srgbClr val="9CA3AF"/>
                </a:solidFill>
                <a:latin typeface="Inter"/>
              </a:rPr>
              <a:t>Img then Vid on scene 1 → last frame extracted automatically.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▸  </a:t>
            </a:r>
            <a:r>
              <a:rPr sz="1300" b="1">
                <a:solidFill>
                  <a:srgbClr val="E6E9F0"/>
                </a:solidFill>
                <a:latin typeface="Inter"/>
              </a:rPr>
              <a:t>Chain  </a:t>
            </a:r>
            <a:r>
              <a:rPr sz="1300" b="0">
                <a:solidFill>
                  <a:srgbClr val="9CA3AF"/>
                </a:solidFill>
                <a:latin typeface="Inter"/>
              </a:rPr>
              <a:t>click 🔗 → empty scene 2 chained from scene 1.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▸  </a:t>
            </a:r>
            <a:r>
              <a:rPr sz="1300" b="1">
                <a:solidFill>
                  <a:srgbClr val="E6E9F0"/>
                </a:solidFill>
                <a:latin typeface="Inter"/>
              </a:rPr>
              <a:t>Wand  </a:t>
            </a:r>
            <a:r>
              <a:rPr sz="1300" b="0">
                <a:solidFill>
                  <a:srgbClr val="9CA3AF"/>
                </a:solidFill>
                <a:latin typeface="Inter"/>
              </a:rPr>
              <a:t>click ✨ → vision-LLM reads scene 1's last frame, writes scene 2's prompt.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▸  </a:t>
            </a:r>
            <a:r>
              <a:rPr sz="1300" b="1">
                <a:solidFill>
                  <a:srgbClr val="E6E9F0"/>
                </a:solidFill>
                <a:latin typeface="Inter"/>
              </a:rPr>
              <a:t>Repeat  </a:t>
            </a:r>
            <a:r>
              <a:rPr sz="1300" b="0">
                <a:solidFill>
                  <a:srgbClr val="9CA3AF"/>
                </a:solidFill>
                <a:latin typeface="Inter"/>
              </a:rPr>
              <a:t>Vid → 🔗 → ✨ → Vid, until the song ends.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Inter"/>
              </a:rPr>
              <a:t>AI Music Video Studio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6E5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6E56E8"/>
                </a:solidFill>
                <a:latin typeface="Inter"/>
              </a:rPr>
              <a:t>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E6E9F0"/>
                </a:solidFill>
                <a:latin typeface="Inter"/>
              </a:rPr>
              <a:t>Conventions that keep the codebase honest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657600" cy="141732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1645920"/>
            <a:ext cx="164592" cy="16459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E6E9F0"/>
                </a:solidFill>
                <a:latin typeface="Inter"/>
              </a:rPr>
              <a:t>Storage URLs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3337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  <a:latin typeface="Inter"/>
              </a:rPr>
              <a:t>to_storage_url() — never hardcode localhost:8010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63040"/>
            <a:ext cx="3657600" cy="141732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07992" y="1645920"/>
            <a:ext cx="164592" cy="16459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57276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E6E9F0"/>
                </a:solidFill>
                <a:latin typeface="Inter"/>
              </a:rPr>
              <a:t>LLM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65960"/>
            <a:ext cx="3337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  <a:latin typeface="Inter"/>
              </a:rPr>
              <a:t>parse_llm_json() tolerates fences, prose, singleton arrays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657600" cy="141732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02752" y="1645920"/>
            <a:ext cx="164592" cy="16459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57276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E6E9F0"/>
                </a:solidFill>
                <a:latin typeface="Inter"/>
              </a:rPr>
              <a:t>Versioned 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65960"/>
            <a:ext cx="3337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  <a:latin typeface="Inter"/>
              </a:rPr>
              <a:t>make_active() / delete_and_promote() enforce one-active invariant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017520"/>
            <a:ext cx="3657600" cy="141732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3200400"/>
            <a:ext cx="164592" cy="16459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12724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E6E9F0"/>
                </a:solidFill>
                <a:latin typeface="Inter"/>
              </a:rPr>
              <a:t>Prompt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520440"/>
            <a:ext cx="3337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  <a:latin typeface="Inter"/>
              </a:rPr>
              <a:t>_save_prompt_version() — Scene.image_prompt is a mirror only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017520"/>
            <a:ext cx="3657600" cy="141732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07992" y="3200400"/>
            <a:ext cx="164592" cy="164592"/>
          </a:xfrm>
          <a:prstGeom prst="ellipse">
            <a:avLst/>
          </a:prstGeom>
          <a:solidFill>
            <a:srgbClr val="F47B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12724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E6E9F0"/>
                </a:solidFill>
                <a:latin typeface="Inter"/>
              </a:rPr>
              <a:t>Endpoints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520440"/>
            <a:ext cx="3337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  <a:latin typeface="Inter"/>
              </a:rPr>
              <a:t>top-level try/except + traceback → specific 500 message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017520"/>
            <a:ext cx="3657600" cy="141732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02752" y="3200400"/>
            <a:ext cx="164592" cy="164592"/>
          </a:xfrm>
          <a:prstGeom prst="ellipse">
            <a:avLst/>
          </a:prstGeom>
          <a:solidFill>
            <a:srgbClr val="F47B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312724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E6E9F0"/>
                </a:solidFill>
                <a:latin typeface="Inter"/>
              </a:rPr>
              <a:t>Migrations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520440"/>
            <a:ext cx="3337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  <a:latin typeface="Inter"/>
              </a:rPr>
              <a:t>_apply_schema_migrations() ALTERs tables for new columns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572000"/>
            <a:ext cx="3657600" cy="141732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3232" y="4754880"/>
            <a:ext cx="164592" cy="164592"/>
          </a:xfrm>
          <a:prstGeom prst="ellipse">
            <a:avLst/>
          </a:prstGeom>
          <a:solidFill>
            <a:srgbClr val="F47B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68172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E6E9F0"/>
                </a:solidFill>
                <a:latin typeface="Inter"/>
              </a:rPr>
              <a:t>Confirms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074920"/>
            <a:ext cx="3337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  <a:latin typeface="Inter"/>
              </a:rPr>
              <a:t>useConfirm() overlay — never window.confirm()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572000"/>
            <a:ext cx="3657600" cy="141732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507992" y="4754880"/>
            <a:ext cx="164592" cy="164592"/>
          </a:xfrm>
          <a:prstGeom prst="ellipse">
            <a:avLst/>
          </a:prstGeom>
          <a:solidFill>
            <a:srgbClr val="F47B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0" y="468172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E6E9F0"/>
                </a:solidFill>
                <a:latin typeface="Inter"/>
              </a:rPr>
              <a:t>Errors → UI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5074920"/>
            <a:ext cx="3337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  <a:latin typeface="Inter"/>
              </a:rPr>
              <a:t>request() extracts FastAPI detail; no re-parsing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4572000"/>
            <a:ext cx="3657600" cy="141732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302752" y="4754880"/>
            <a:ext cx="164592" cy="164592"/>
          </a:xfrm>
          <a:prstGeom prst="ellipse">
            <a:avLst/>
          </a:prstGeom>
          <a:solidFill>
            <a:srgbClr val="F47B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49640" y="468172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E6E9F0"/>
                </a:solidFill>
                <a:latin typeface="Inter"/>
              </a:rPr>
              <a:t>Avoid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074920"/>
            <a:ext cx="3337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  <a:latin typeface="Inter"/>
              </a:rPr>
              <a:t>no post-process lipsync, no last_frame chaining, no motion-offset trim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Inter"/>
              </a:rPr>
              <a:t>AI Music Video Studio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6E5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6E56E8"/>
                </a:solidFill>
                <a:latin typeface="Inter"/>
              </a:rPr>
              <a:t>GOTCHAS &amp; TRADEOFFS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E6E9F0"/>
                </a:solidFill>
                <a:latin typeface="Inter"/>
              </a:rPr>
              <a:t>Provider drift and model constraints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1064240" cy="512064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73152" cy="512064"/>
          </a:xfrm>
          <a:prstGeom prst="rect">
            <a:avLst/>
          </a:prstGeom>
          <a:solidFill>
            <a:srgbClr val="F47B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E6E9F0"/>
                </a:solidFill>
                <a:latin typeface="Inter"/>
              </a:rPr>
              <a:t>Seedance content filter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417320"/>
            <a:ext cx="7315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Inter"/>
              </a:rPr>
              <a:t>refuses photoreal portraits as input_references — surfaced explicitly, no silent degrade.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93392"/>
            <a:ext cx="11064240" cy="512064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93392"/>
            <a:ext cx="73152" cy="512064"/>
          </a:xfrm>
          <a:prstGeom prst="rect">
            <a:avLst/>
          </a:prstGeom>
          <a:solidFill>
            <a:srgbClr val="F47B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93392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E6E9F0"/>
                </a:solidFill>
                <a:latin typeface="Inter"/>
              </a:rPr>
              <a:t>Veo needs allow_adult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993392"/>
            <a:ext cx="7315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Inter"/>
              </a:rPr>
              <a:t>personGeneration='allow_adult' set on every Veo submission or it refuses.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69464"/>
            <a:ext cx="11064240" cy="512064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569464"/>
            <a:ext cx="73152" cy="512064"/>
          </a:xfrm>
          <a:prstGeom prst="rect">
            <a:avLst/>
          </a:prstGeom>
          <a:solidFill>
            <a:srgbClr val="F47B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569464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E6E9F0"/>
                </a:solidFill>
                <a:latin typeface="Inter"/>
              </a:rPr>
              <a:t>Veo + refs incompatible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569464"/>
            <a:ext cx="7315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Inter"/>
              </a:rPr>
              <a:t>ignores input_references when first_frame present → supports_reference_images=False.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45536"/>
            <a:ext cx="11064240" cy="512064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145536"/>
            <a:ext cx="73152" cy="512064"/>
          </a:xfrm>
          <a:prstGeom prst="rect">
            <a:avLst/>
          </a:prstGeom>
          <a:solidFill>
            <a:srgbClr val="F47B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145536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E6E9F0"/>
                </a:solidFill>
                <a:latin typeface="Inter"/>
              </a:rPr>
              <a:t>Kling drops refs on 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145536"/>
            <a:ext cx="7315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Inter"/>
              </a:rPr>
              <a:t>input_references exposed natively but OpenRouter passthrough drops them.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21608"/>
            <a:ext cx="11064240" cy="512064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721608"/>
            <a:ext cx="73152" cy="5120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721608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E6E9F0"/>
                </a:solidFill>
                <a:latin typeface="Inter"/>
              </a:rPr>
              <a:t>Gemini Image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721608"/>
            <a:ext cx="7315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Inter"/>
              </a:rPr>
              <a:t>sometimes returns text, not an image — auto-retry-on-text handles 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297680"/>
            <a:ext cx="11064240" cy="512064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297680"/>
            <a:ext cx="73152" cy="5120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297680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E6E9F0"/>
                </a:solidFill>
                <a:latin typeface="Inter"/>
              </a:rPr>
              <a:t>Backend reload kills in-flight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297680"/>
            <a:ext cx="7315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Inter"/>
              </a:rPr>
              <a:t>uvicorn --reload; mitigated by graceful shutdown + short LLM batches + frontend retry.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873752"/>
            <a:ext cx="11064240" cy="512064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873752"/>
            <a:ext cx="73152" cy="5120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873752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E6E9F0"/>
                </a:solidFill>
                <a:latin typeface="Inter"/>
              </a:rPr>
              <a:t>Chain needs prev rendered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4873752"/>
            <a:ext cx="7315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Inter"/>
              </a:rPr>
              <a:t>chain_from_prev reads extracted_last_frame_path; generate sequentially.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449824"/>
            <a:ext cx="11064240" cy="512064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5449824"/>
            <a:ext cx="73152" cy="5120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449824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E6E9F0"/>
                </a:solidFill>
                <a:latin typeface="Inter"/>
              </a:rPr>
              <a:t>Durations snapped to 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5449824"/>
            <a:ext cx="7315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Inter"/>
              </a:rPr>
              <a:t>10s scene on Veo Lite → 8s; use Kling/Seedance for &gt;8s scenes.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6025896"/>
            <a:ext cx="11064240" cy="512064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6025896"/>
            <a:ext cx="73152" cy="5120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6025896"/>
            <a:ext cx="32918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E6E9F0"/>
                </a:solidFill>
                <a:latin typeface="Inter"/>
              </a:rPr>
              <a:t>last frame mutated in place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6025896"/>
            <a:ext cx="7315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Inter"/>
              </a:rPr>
              <a:t>to_storage_url(path, cache_bust=True) breaks stale browser cache.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Inter"/>
              </a:rPr>
              <a:t>AI Music Video Studio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6E5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6E56E8"/>
                </a:solidFill>
                <a:latin typeface="Inter"/>
              </a:rPr>
              <a:t>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E6E9F0"/>
                </a:solidFill>
                <a:latin typeface="Inter"/>
              </a:rPr>
              <a:t>config.py — models, pricing, capabilities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657600" cy="466344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Inter"/>
              </a:rPr>
              <a:t>VIDEO_MODELS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22D3EE"/>
                </a:solidFill>
                <a:latin typeface="Inter"/>
              </a:rPr>
              <a:t>▸  </a:t>
            </a:r>
            <a:r>
              <a:rPr sz="1200">
                <a:solidFill>
                  <a:srgbClr val="E6E9F0"/>
                </a:solidFill>
                <a:latin typeface="Inter"/>
              </a:rPr>
              <a:t>Seedance 1.0 / 2.0 (refs ✓, audio ✓)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22D3EE"/>
                </a:solidFill>
                <a:latin typeface="Inter"/>
              </a:rPr>
              <a:t>▸  </a:t>
            </a:r>
            <a:r>
              <a:rPr sz="1200">
                <a:solidFill>
                  <a:srgbClr val="E6E9F0"/>
                </a:solidFill>
                <a:latin typeface="Inter"/>
              </a:rPr>
              <a:t>Kling 1.6 (refs ✗ on OR)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22D3EE"/>
                </a:solidFill>
                <a:latin typeface="Inter"/>
              </a:rPr>
              <a:t>▸  </a:t>
            </a:r>
            <a:r>
              <a:rPr sz="1200">
                <a:solidFill>
                  <a:srgbClr val="E6E9F0"/>
                </a:solidFill>
                <a:latin typeface="Inter"/>
              </a:rPr>
              <a:t>Veo 3 / Veo 3 Fast (refs ✗)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22D3EE"/>
                </a:solidFill>
                <a:latin typeface="Inter"/>
              </a:rPr>
              <a:t>▸  </a:t>
            </a:r>
            <a:r>
              <a:rPr sz="1200">
                <a:solidFill>
                  <a:srgbClr val="E6E9F0"/>
                </a:solidFill>
                <a:latin typeface="Inter"/>
              </a:rPr>
              <a:t>Each: durations, resolutions, pricing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657600" cy="466344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459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47BB2"/>
                </a:solidFill>
                <a:latin typeface="Inter"/>
              </a:rPr>
              <a:t>IMAGE_MODELS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4884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F47BB2"/>
                </a:solidFill>
                <a:latin typeface="Inter"/>
              </a:rPr>
              <a:t>▸  </a:t>
            </a:r>
            <a:r>
              <a:rPr sz="1200">
                <a:solidFill>
                  <a:srgbClr val="E6E9F0"/>
                </a:solidFill>
                <a:latin typeface="Inter"/>
              </a:rPr>
              <a:t>Gemini Image (default)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F47BB2"/>
                </a:solidFill>
                <a:latin typeface="Inter"/>
              </a:rPr>
              <a:t>▸  </a:t>
            </a:r>
            <a:r>
              <a:rPr sz="1200">
                <a:solidFill>
                  <a:srgbClr val="E6E9F0"/>
                </a:solidFill>
                <a:latin typeface="Inter"/>
              </a:rPr>
              <a:t>Recraft / others selectable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F47BB2"/>
                </a:solidFill>
                <a:latin typeface="Inter"/>
              </a:rPr>
              <a:t>▸  </a:t>
            </a:r>
            <a:r>
              <a:rPr sz="1200">
                <a:solidFill>
                  <a:srgbClr val="E6E9F0"/>
                </a:solidFill>
                <a:latin typeface="Inter"/>
              </a:rPr>
              <a:t>Retry-on-text built in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F47BB2"/>
                </a:solidFill>
                <a:latin typeface="Inter"/>
              </a:rPr>
              <a:t>▸  </a:t>
            </a:r>
            <a:r>
              <a:rPr sz="1200">
                <a:solidFill>
                  <a:srgbClr val="E6E9F0"/>
                </a:solidFill>
                <a:latin typeface="Inter"/>
              </a:rPr>
              <a:t>Celebrity names trip likeness filter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657600" cy="466344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6459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4D399"/>
                </a:solidFill>
                <a:latin typeface="Inter"/>
              </a:rPr>
              <a:t>ENV VARS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14884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34D399"/>
                </a:solidFill>
                <a:latin typeface="Inter"/>
              </a:rPr>
              <a:t>▸  </a:t>
            </a:r>
            <a:r>
              <a:rPr sz="1200" b="1">
                <a:solidFill>
                  <a:srgbClr val="E6E9F0"/>
                </a:solidFill>
                <a:latin typeface="Inter"/>
              </a:rPr>
              <a:t>Required:  </a:t>
            </a:r>
            <a:r>
              <a:rPr sz="1200" b="0">
                <a:solidFill>
                  <a:srgbClr val="9CA3AF"/>
                </a:solidFill>
                <a:latin typeface="Inter"/>
              </a:rPr>
              <a:t>OPENROUTER_API_KEY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34D399"/>
                </a:solidFill>
                <a:latin typeface="Inter"/>
              </a:rPr>
              <a:t>▸  </a:t>
            </a:r>
            <a:r>
              <a:rPr sz="1200" b="1">
                <a:solidFill>
                  <a:srgbClr val="E6E9F0"/>
                </a:solidFill>
                <a:latin typeface="Inter"/>
              </a:rPr>
              <a:t>Optional:  </a:t>
            </a:r>
            <a:r>
              <a:rPr sz="1200" b="0">
                <a:solidFill>
                  <a:srgbClr val="9CA3AF"/>
                </a:solidFill>
                <a:latin typeface="Inter"/>
              </a:rPr>
              <a:t>FAL_API_KEY (word-level lyrics)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34D399"/>
                </a:solidFill>
                <a:latin typeface="Inter"/>
              </a:rPr>
              <a:t>▸  </a:t>
            </a:r>
            <a:r>
              <a:rPr sz="1200" b="1">
                <a:solidFill>
                  <a:srgbClr val="E6E9F0"/>
                </a:solidFill>
                <a:latin typeface="Inter"/>
              </a:rPr>
              <a:t>Optional:  </a:t>
            </a:r>
            <a:r>
              <a:rPr sz="1200" b="0">
                <a:solidFill>
                  <a:srgbClr val="9CA3AF"/>
                </a:solidFill>
                <a:latin typeface="Inter"/>
              </a:rPr>
              <a:t>SUNO_API_KEY (music gen)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34D399"/>
                </a:solidFill>
                <a:latin typeface="Inter"/>
              </a:rPr>
              <a:t>▸  </a:t>
            </a:r>
            <a:r>
              <a:rPr sz="1200" b="1">
                <a:solidFill>
                  <a:srgbClr val="E6E9F0"/>
                </a:solidFill>
                <a:latin typeface="Inter"/>
              </a:rPr>
              <a:t>Override:  </a:t>
            </a:r>
            <a:r>
              <a:rPr sz="1200" b="0">
                <a:solidFill>
                  <a:srgbClr val="9CA3AF"/>
                </a:solidFill>
                <a:latin typeface="Inter"/>
              </a:rPr>
              <a:t>PUBLIC_BASE_URL, STORAGE_DIR, port 8010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Inter"/>
              </a:rPr>
              <a:t>AI Music Video Studio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Inter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800" b="1">
                <a:solidFill>
                  <a:srgbClr val="E6E9F0"/>
                </a:solidFill>
                <a:latin typeface="Inter"/>
              </a:rPr>
              <a:t>An end-to-end AI music-video studio.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2D3EE"/>
                </a:solidFill>
                <a:latin typeface="Inter"/>
              </a:rPr>
              <a:t>▸  </a:t>
            </a:r>
            <a:r>
              <a:rPr sz="1600" b="1">
                <a:solidFill>
                  <a:srgbClr val="E6E9F0"/>
                </a:solidFill>
                <a:latin typeface="Inter"/>
              </a:rPr>
              <a:t>One SQLite file, two services  </a:t>
            </a:r>
            <a:r>
              <a:rPr sz="1600" b="0">
                <a:solidFill>
                  <a:srgbClr val="9CA3AF"/>
                </a:solidFill>
                <a:latin typeface="Inter"/>
              </a:rPr>
              <a:t>FastAPI backend + Next.js frontend, all AI via OpenRouter.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2D3EE"/>
                </a:solidFill>
                <a:latin typeface="Inter"/>
              </a:rPr>
              <a:t>▸  </a:t>
            </a:r>
            <a:r>
              <a:rPr sz="1600" b="1">
                <a:solidFill>
                  <a:srgbClr val="E6E9F0"/>
                </a:solidFill>
                <a:latin typeface="Inter"/>
              </a:rPr>
              <a:t>Two video routes per scene  </a:t>
            </a:r>
            <a:r>
              <a:rPr sz="1600" b="0">
                <a:solidFill>
                  <a:srgbClr val="9CA3AF"/>
                </a:solidFill>
                <a:latin typeface="Inter"/>
              </a:rPr>
              <a:t>cheap I2V default, Seedance R2V audio-sync opt-in.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2D3EE"/>
                </a:solidFill>
                <a:latin typeface="Inter"/>
              </a:rPr>
              <a:t>▸  </a:t>
            </a:r>
            <a:r>
              <a:rPr sz="1600" b="1">
                <a:solidFill>
                  <a:srgbClr val="E6E9F0"/>
                </a:solidFill>
                <a:latin typeface="Inter"/>
              </a:rPr>
              <a:t>Pixel-accurate continuity  </a:t>
            </a:r>
            <a:r>
              <a:rPr sz="1600" b="0">
                <a:solidFill>
                  <a:srgbClr val="9CA3AF"/>
                </a:solidFill>
                <a:latin typeface="Inter"/>
              </a:rPr>
              <a:t>chained scenes start on the previous clip's real last frame.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2D3EE"/>
                </a:solidFill>
                <a:latin typeface="Inter"/>
              </a:rPr>
              <a:t>▸  </a:t>
            </a:r>
            <a:r>
              <a:rPr sz="1600" b="1">
                <a:solidFill>
                  <a:srgbClr val="E6E9F0"/>
                </a:solidFill>
                <a:latin typeface="Inter"/>
              </a:rPr>
              <a:t>Convention-driven codebase  </a:t>
            </a:r>
            <a:r>
              <a:rPr sz="1600" b="0">
                <a:solidFill>
                  <a:srgbClr val="9CA3AF"/>
                </a:solidFill>
                <a:latin typeface="Inter"/>
              </a:rPr>
              <a:t>shared helpers enforce invariants; gotchas documented up front.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Inter"/>
              </a:rPr>
              <a:t>Backend :8010   ·   Frontend :3000   ·   API docs :8010/docs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Inter"/>
              </a:rPr>
              <a:t>AI Music Video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